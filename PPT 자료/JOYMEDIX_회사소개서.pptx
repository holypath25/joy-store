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549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124AA-A183-722B-69AF-F05D8006D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185BF-027E-F659-2547-4E528B21B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C1415-453D-A22C-E47F-C2653C1DB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AEEEE-C78C-C65B-9A32-C70F4E9A51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3419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sv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sv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.sv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17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0" y="2468880"/>
            <a:ext cx="6035040" cy="6035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640080"/>
            <a:ext cx="41148" cy="365760"/>
          </a:xfrm>
          <a:prstGeom prst="rect">
            <a:avLst/>
          </a:prstGeom>
          <a:solidFill>
            <a:srgbClr val="B892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731520" y="62179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1400" y="502920"/>
            <a:ext cx="566928" cy="5669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3232" y="1965960"/>
            <a:ext cx="10058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kern="0" spc="1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JOYMEDIX</a:t>
            </a:r>
            <a:endParaRPr lang="en-US" sz="7600" dirty="0"/>
          </a:p>
        </p:txBody>
      </p:sp>
      <p:sp>
        <p:nvSpPr>
          <p:cNvPr id="7" name="Text 3"/>
          <p:cNvSpPr/>
          <p:nvPr/>
        </p:nvSpPr>
        <p:spPr>
          <a:xfrm>
            <a:off x="749808" y="33375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Korean beauty with the world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749808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K-Beauty · Medical Aesthetic · Global Connection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66928" y="6199632"/>
            <a:ext cx="457200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5074920" y="5989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924A"/>
                </a:solidFill>
              </a:rPr>
              <a:t>◆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577840" y="6199632"/>
            <a:ext cx="603504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928" y="6355080"/>
            <a:ext cx="384048" cy="38404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09728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/>
          <p:nvPr/>
        </p:nvSpPr>
        <p:spPr>
          <a:xfrm>
            <a:off x="1234440" y="6355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JOYMEDIX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1056132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10698480" y="6355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3760" y="2834640"/>
            <a:ext cx="4937760" cy="4937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66928"/>
            <a:ext cx="41148" cy="384048"/>
          </a:xfrm>
          <a:prstGeom prst="rect">
            <a:avLst/>
          </a:prstGeom>
          <a:solidFill>
            <a:srgbClr val="B892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7315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r>
              <a:rPr lang="en-US" sz="1500" kern="0" spc="100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About Us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1400" y="457200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928" y="6199632"/>
            <a:ext cx="457200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5074920" y="5989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924A"/>
                </a:solidFill>
              </a:rPr>
              <a:t>◆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577840" y="6199632"/>
            <a:ext cx="603504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928" y="6355080"/>
            <a:ext cx="384048" cy="38404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9728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/>
          <p:nvPr/>
        </p:nvSpPr>
        <p:spPr>
          <a:xfrm>
            <a:off x="1234440" y="6355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JOYMEDIX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1056132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/>
          <p:nvPr/>
        </p:nvSpPr>
        <p:spPr>
          <a:xfrm>
            <a:off x="10698480" y="6355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09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13232" y="1325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</a:t>
            </a:r>
            <a:r>
              <a:rPr lang="en-US" sz="4400" b="1" dirty="0" err="1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Beuaty</a:t>
            </a:r>
            <a:r>
              <a:rPr lang="en-US" sz="4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Aesthetic</a:t>
            </a:r>
            <a:endParaRPr lang="en-US" sz="4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Bridge to Worldwide</a:t>
            </a:r>
            <a:endParaRPr lang="en-US" sz="4400" dirty="0"/>
          </a:p>
        </p:txBody>
      </p:sp>
      <p:sp>
        <p:nvSpPr>
          <p:cNvPr id="15" name="Text 10"/>
          <p:cNvSpPr/>
          <p:nvPr/>
        </p:nvSpPr>
        <p:spPr>
          <a:xfrm>
            <a:off x="609600" y="35661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</a:t>
            </a:r>
            <a:r>
              <a:rPr lang="en-US" sz="1600" b="1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</a:t>
            </a:r>
            <a:r>
              <a:rPr lang="en-US" sz="1600" b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한국의 검증된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에스테틱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제품·교육·인재</a:t>
            </a:r>
            <a:r>
              <a:rPr lang="en-US" sz="1600" b="1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</a:t>
            </a:r>
            <a:r>
              <a:rPr lang="en-US" sz="1600" b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전세계</a:t>
            </a:r>
            <a:r>
              <a:rPr lang="en-US" sz="1600" b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</a:t>
            </a:r>
            <a:r>
              <a:rPr lang="en-US" sz="1600" b="1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연결하는</a:t>
            </a:r>
            <a:r>
              <a:rPr lang="en-US" sz="1600" b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Stop Solution Bridge </a:t>
            </a:r>
            <a:r>
              <a:rPr lang="en-US" sz="1600" b="1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입니다</a:t>
            </a:r>
            <a:r>
              <a:rPr lang="en-US" sz="1600" b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600" b="1" dirty="0">
              <a:solidFill>
                <a:srgbClr val="1F4D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</a:t>
            </a:r>
            <a:r>
              <a:rPr lang="en-US" sz="1600" b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유통을 넘어 교육과 인재, 네트워크를 </a:t>
            </a:r>
            <a:r>
              <a:rPr lang="en-US" sz="1600" b="1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결합해</a:t>
            </a:r>
            <a:r>
              <a:rPr lang="en-US" sz="1600" b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우수한 </a:t>
            </a:r>
            <a:endParaRPr lang="en-US" altLang="ko-KR" b="1" dirty="0">
              <a:solidFill>
                <a:schemeClr val="accent1">
                  <a:lumMod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K-BEAUTY 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생태계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해외로 확장</a:t>
            </a:r>
            <a:r>
              <a:rPr lang="en-US" sz="1600" b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합니다.</a:t>
            </a:r>
            <a:endParaRPr lang="en-US" sz="1600" b="1" dirty="0"/>
          </a:p>
        </p:txBody>
      </p:sp>
      <p:sp>
        <p:nvSpPr>
          <p:cNvPr id="16" name="Text 11"/>
          <p:cNvSpPr/>
          <p:nvPr/>
        </p:nvSpPr>
        <p:spPr>
          <a:xfrm>
            <a:off x="6400800" y="32461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3개국</a:t>
            </a:r>
            <a:endParaRPr lang="en-US" sz="3000" dirty="0"/>
          </a:p>
        </p:txBody>
      </p:sp>
      <p:sp>
        <p:nvSpPr>
          <p:cNvPr id="17" name="Shape 12"/>
          <p:cNvSpPr/>
          <p:nvPr/>
        </p:nvSpPr>
        <p:spPr>
          <a:xfrm>
            <a:off x="8595360" y="3264408"/>
            <a:ext cx="0" cy="54864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/>
          <p:nvPr/>
        </p:nvSpPr>
        <p:spPr>
          <a:xfrm>
            <a:off x="8778240" y="3191256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현지 클리닉 네트워크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(몽골·캐나다·호주)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0" y="4160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4대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8595360" y="4178808"/>
            <a:ext cx="0" cy="54864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/>
          <p:nvPr/>
        </p:nvSpPr>
        <p:spPr>
          <a:xfrm>
            <a:off x="8778240" y="4105656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사업 영역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0" y="5074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연결</a:t>
            </a:r>
            <a:endParaRPr lang="en-US" sz="3000" dirty="0"/>
          </a:p>
        </p:txBody>
      </p:sp>
      <p:sp>
        <p:nvSpPr>
          <p:cNvPr id="23" name="Shape 18"/>
          <p:cNvSpPr/>
          <p:nvPr/>
        </p:nvSpPr>
        <p:spPr>
          <a:xfrm>
            <a:off x="8595360" y="5093208"/>
            <a:ext cx="0" cy="54864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/>
          <p:nvPr/>
        </p:nvSpPr>
        <p:spPr>
          <a:xfrm>
            <a:off x="8778240" y="5020056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제품·교육·인재·유통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일괄 연결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41148" cy="384048"/>
          </a:xfrm>
          <a:prstGeom prst="rect">
            <a:avLst/>
          </a:prstGeom>
          <a:solidFill>
            <a:srgbClr val="B892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r>
              <a:rPr lang="en-US" sz="1500" kern="0" spc="100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Our Belief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01400" y="45720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6199632"/>
            <a:ext cx="457200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074920" y="5989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924A"/>
                </a:solidFill>
              </a:rPr>
              <a:t>◆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577840" y="6199632"/>
            <a:ext cx="603504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6355080"/>
            <a:ext cx="384048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1234440" y="6355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JOYMEDIX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056132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10698480" y="6355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09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9520" y="3291840"/>
            <a:ext cx="4572000" cy="4572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" y="1280160"/>
            <a:ext cx="10972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 err="1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JOY는</a:t>
            </a:r>
            <a:r>
              <a:rPr lang="en-US" sz="38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지식과 </a:t>
            </a:r>
            <a:r>
              <a:rPr lang="en-US" sz="3800" b="1" dirty="0" err="1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</a:t>
            </a:r>
            <a:r>
              <a:rPr lang="en-US" sz="38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 err="1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그리고</a:t>
            </a:r>
            <a:r>
              <a:rPr lang="en-US" sz="38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</a:t>
            </a:r>
            <a:r>
              <a:rPr lang="en-US" sz="4000" b="1" dirty="0" err="1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r>
              <a:rPr lang="en-US" sz="3800" b="1" dirty="0" err="1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</a:t>
            </a:r>
            <a:r>
              <a:rPr lang="en-US" sz="38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완성됩니다</a:t>
            </a:r>
            <a:endParaRPr lang="en-US" sz="3800" dirty="0"/>
          </a:p>
        </p:txBody>
      </p:sp>
      <p:sp>
        <p:nvSpPr>
          <p:cNvPr id="15" name="Shape 10"/>
          <p:cNvSpPr/>
          <p:nvPr/>
        </p:nvSpPr>
        <p:spPr>
          <a:xfrm>
            <a:off x="749808" y="3200400"/>
            <a:ext cx="1060704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1920240" y="3520440"/>
            <a:ext cx="1097280" cy="1097280"/>
          </a:xfrm>
          <a:prstGeom prst="ellipse">
            <a:avLst/>
          </a:prstGeom>
          <a:solidFill>
            <a:srgbClr val="F7F1E8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6506" y="3816706"/>
            <a:ext cx="504749" cy="5047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4709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868680" y="51480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지식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20540" y="3794760"/>
            <a:ext cx="0" cy="118872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5623560" y="3520440"/>
            <a:ext cx="1097280" cy="1097280"/>
          </a:xfrm>
          <a:prstGeom prst="ellipse">
            <a:avLst/>
          </a:prstGeom>
          <a:solidFill>
            <a:srgbClr val="F7F1E8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9826" y="3816706"/>
            <a:ext cx="504749" cy="50474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72000" y="4709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2100" dirty="0"/>
          </a:p>
        </p:txBody>
      </p:sp>
      <p:sp>
        <p:nvSpPr>
          <p:cNvPr id="24" name="Text 17"/>
          <p:cNvSpPr/>
          <p:nvPr/>
        </p:nvSpPr>
        <p:spPr>
          <a:xfrm>
            <a:off x="4572000" y="51480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신뢰의 관계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023860" y="3794760"/>
            <a:ext cx="0" cy="118872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9"/>
          <p:cNvSpPr/>
          <p:nvPr/>
        </p:nvSpPr>
        <p:spPr>
          <a:xfrm>
            <a:off x="9326880" y="3520440"/>
            <a:ext cx="1097280" cy="1097280"/>
          </a:xfrm>
          <a:prstGeom prst="ellipse">
            <a:avLst/>
          </a:prstGeom>
          <a:solidFill>
            <a:srgbClr val="F7F1E8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3146" y="3816706"/>
            <a:ext cx="504749" cy="50474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275320" y="4709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Value</a:t>
            </a:r>
            <a:endParaRPr lang="en-US" sz="2100" dirty="0"/>
          </a:p>
        </p:txBody>
      </p:sp>
      <p:sp>
        <p:nvSpPr>
          <p:cNvPr id="29" name="Text 21"/>
          <p:cNvSpPr/>
          <p:nvPr/>
        </p:nvSpPr>
        <p:spPr>
          <a:xfrm>
            <a:off x="8275320" y="51480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실질적 가치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749808" y="56235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i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단순히 </a:t>
            </a:r>
            <a:r>
              <a:rPr lang="en-US" sz="1500" i="1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제품이</a:t>
            </a:r>
            <a:r>
              <a:rPr lang="ko-KR" altLang="en-US" sz="1500" i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</a:t>
            </a:r>
            <a:r>
              <a:rPr lang="en-US" sz="1500" i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트렌드가 아니라 — </a:t>
            </a:r>
            <a:r>
              <a:rPr lang="ko-KR" altLang="en-US" b="1" i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가치</a:t>
            </a:r>
            <a:r>
              <a:rPr lang="en-US" b="1" i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i="1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있는</a:t>
            </a:r>
            <a:r>
              <a:rPr lang="en-US" b="1" i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i="1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r>
              <a:rPr lang="en-US" sz="1500" i="1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</a:t>
            </a:r>
            <a:r>
              <a:rPr lang="en-US" sz="1500" i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500" i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창출합니다</a:t>
            </a:r>
            <a:r>
              <a:rPr lang="en-US" altLang="ko-KR" sz="1500" i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41148" cy="384048"/>
          </a:xfrm>
          <a:prstGeom prst="rect">
            <a:avLst/>
          </a:prstGeom>
          <a:solidFill>
            <a:srgbClr val="B892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r>
              <a:rPr lang="en-US" sz="1500" kern="0" spc="100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Business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01400" y="45720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6199632"/>
            <a:ext cx="457200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074920" y="5989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924A"/>
                </a:solidFill>
              </a:rPr>
              <a:t>◆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577840" y="6199632"/>
            <a:ext cx="603504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6355080"/>
            <a:ext cx="384048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1234440" y="6355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JOYMEDIX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056132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10698480" y="6355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09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3232" y="118872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4대 사업 영역</a:t>
            </a:r>
            <a:endParaRPr lang="en-US" sz="4800" dirty="0"/>
          </a:p>
        </p:txBody>
      </p:sp>
      <p:sp>
        <p:nvSpPr>
          <p:cNvPr id="14" name="Shape 10"/>
          <p:cNvSpPr/>
          <p:nvPr/>
        </p:nvSpPr>
        <p:spPr>
          <a:xfrm>
            <a:off x="713232" y="2423160"/>
            <a:ext cx="2670048" cy="3246120"/>
          </a:xfrm>
          <a:prstGeom prst="roundRect">
            <a:avLst>
              <a:gd name="adj" fmla="val 3425"/>
            </a:avLst>
          </a:prstGeom>
          <a:solidFill>
            <a:srgbClr val="FBF7F0"/>
          </a:solidFill>
          <a:ln w="12700">
            <a:solidFill>
              <a:srgbClr val="D9C49A"/>
            </a:solidFill>
            <a:prstDash val="solid"/>
          </a:ln>
          <a:effectLst>
            <a:outerShdw blurRad="88900" dist="25400" dir="8100000" algn="bl" rotWithShape="0">
              <a:srgbClr val="8A6D2F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987552" y="2697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2331720" y="2715768"/>
            <a:ext cx="777240" cy="777240"/>
          </a:xfrm>
          <a:prstGeom prst="ellipse">
            <a:avLst/>
          </a:prstGeom>
          <a:solidFill>
            <a:srgbClr val="FBF7F0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1575" y="2925623"/>
            <a:ext cx="357530" cy="3575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7552" y="3749040"/>
            <a:ext cx="22128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해외 유통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987552" y="4572000"/>
            <a:ext cx="2121408" cy="0"/>
          </a:xfrm>
          <a:prstGeom prst="line">
            <a:avLst/>
          </a:prstGeom>
          <a:noFill/>
          <a:ln w="9525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987552" y="470916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에스테틱 제품의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</a:t>
            </a:r>
            <a:r>
              <a:rPr lang="en-US" sz="125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B2B &amp; B2C 유통 채널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3584448" y="2423160"/>
            <a:ext cx="2670048" cy="3246120"/>
          </a:xfrm>
          <a:prstGeom prst="roundRect">
            <a:avLst>
              <a:gd name="adj" fmla="val 3425"/>
            </a:avLst>
          </a:prstGeom>
          <a:solidFill>
            <a:srgbClr val="FBF7F0"/>
          </a:solidFill>
          <a:ln w="12700">
            <a:solidFill>
              <a:srgbClr val="D9C49A"/>
            </a:solidFill>
            <a:prstDash val="solid"/>
          </a:ln>
          <a:effectLst>
            <a:outerShdw blurRad="88900" dist="25400" dir="8100000" algn="bl" rotWithShape="0">
              <a:srgbClr val="8A6D2F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/>
          <p:nvPr/>
        </p:nvSpPr>
        <p:spPr>
          <a:xfrm>
            <a:off x="3858768" y="2697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5202936" y="2715768"/>
            <a:ext cx="777240" cy="777240"/>
          </a:xfrm>
          <a:prstGeom prst="ellipse">
            <a:avLst/>
          </a:prstGeom>
          <a:solidFill>
            <a:srgbClr val="FBF7F0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2791" y="2925623"/>
            <a:ext cx="357530" cy="35753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858768" y="3749040"/>
            <a:ext cx="22128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세미나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3858768" y="4572000"/>
            <a:ext cx="2121408" cy="0"/>
          </a:xfrm>
          <a:prstGeom prst="line">
            <a:avLst/>
          </a:prstGeom>
          <a:noFill/>
          <a:ln w="9525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/>
          <p:nvPr/>
        </p:nvSpPr>
        <p:spPr>
          <a:xfrm>
            <a:off x="3858768" y="470916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현지 클리닉 대상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K-에스테틱 교육 개최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455664" y="2423160"/>
            <a:ext cx="2670048" cy="3246120"/>
          </a:xfrm>
          <a:prstGeom prst="roundRect">
            <a:avLst>
              <a:gd name="adj" fmla="val 3425"/>
            </a:avLst>
          </a:prstGeom>
          <a:solidFill>
            <a:srgbClr val="FBF7F0"/>
          </a:solidFill>
          <a:ln w="12700">
            <a:solidFill>
              <a:srgbClr val="D9C49A"/>
            </a:solidFill>
            <a:prstDash val="solid"/>
          </a:ln>
          <a:effectLst>
            <a:outerShdw blurRad="88900" dist="25400" dir="8100000" algn="bl" rotWithShape="0">
              <a:srgbClr val="8A6D2F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/>
          <p:nvPr/>
        </p:nvSpPr>
        <p:spPr>
          <a:xfrm>
            <a:off x="6729984" y="2697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30" name="Shape 24"/>
          <p:cNvSpPr/>
          <p:nvPr/>
        </p:nvSpPr>
        <p:spPr>
          <a:xfrm>
            <a:off x="8074152" y="2715768"/>
            <a:ext cx="777240" cy="777240"/>
          </a:xfrm>
          <a:prstGeom prst="ellipse">
            <a:avLst/>
          </a:prstGeom>
          <a:solidFill>
            <a:srgbClr val="FBF7F0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007" y="2925623"/>
            <a:ext cx="357530" cy="35753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729984" y="3749040"/>
            <a:ext cx="22128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인재 해외 공급</a:t>
            </a:r>
            <a:endParaRPr lang="en-US" sz="1800" dirty="0"/>
          </a:p>
        </p:txBody>
      </p:sp>
      <p:sp>
        <p:nvSpPr>
          <p:cNvPr id="33" name="Shape 26"/>
          <p:cNvSpPr/>
          <p:nvPr/>
        </p:nvSpPr>
        <p:spPr>
          <a:xfrm>
            <a:off x="6729984" y="4572000"/>
            <a:ext cx="2121408" cy="0"/>
          </a:xfrm>
          <a:prstGeom prst="line">
            <a:avLst/>
          </a:prstGeom>
          <a:noFill/>
          <a:ln w="9525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7"/>
          <p:cNvSpPr/>
          <p:nvPr/>
        </p:nvSpPr>
        <p:spPr>
          <a:xfrm>
            <a:off x="6729984" y="470916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 </a:t>
            </a:r>
            <a:r>
              <a:rPr lang="en-US" sz="1250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연계</a:t>
            </a:r>
            <a:r>
              <a:rPr lang="en-US" sz="125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뷰티션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클리닉 파견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9326880" y="2423160"/>
            <a:ext cx="2670048" cy="3246120"/>
          </a:xfrm>
          <a:prstGeom prst="roundRect">
            <a:avLst>
              <a:gd name="adj" fmla="val 3425"/>
            </a:avLst>
          </a:prstGeom>
          <a:solidFill>
            <a:srgbClr val="FBF7F0"/>
          </a:solidFill>
          <a:ln w="12700">
            <a:solidFill>
              <a:srgbClr val="D9C49A"/>
            </a:solidFill>
            <a:prstDash val="solid"/>
          </a:ln>
          <a:effectLst>
            <a:outerShdw blurRad="88900" dist="25400" dir="8100000" algn="bl" rotWithShape="0">
              <a:srgbClr val="8A6D2F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9"/>
          <p:cNvSpPr/>
          <p:nvPr/>
        </p:nvSpPr>
        <p:spPr>
          <a:xfrm>
            <a:off x="9601200" y="2697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37" name="Shape 30"/>
          <p:cNvSpPr/>
          <p:nvPr/>
        </p:nvSpPr>
        <p:spPr>
          <a:xfrm>
            <a:off x="10945368" y="2715768"/>
            <a:ext cx="777240" cy="777240"/>
          </a:xfrm>
          <a:prstGeom prst="ellipse">
            <a:avLst/>
          </a:prstGeom>
          <a:solidFill>
            <a:srgbClr val="FBF7F0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223" y="2925623"/>
            <a:ext cx="357530" cy="35753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601200" y="3749040"/>
            <a:ext cx="22128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개원컨설팅</a:t>
            </a:r>
            <a:endParaRPr lang="en-US" sz="1800" dirty="0"/>
          </a:p>
        </p:txBody>
      </p:sp>
      <p:sp>
        <p:nvSpPr>
          <p:cNvPr id="40" name="Shape 32"/>
          <p:cNvSpPr/>
          <p:nvPr/>
        </p:nvSpPr>
        <p:spPr>
          <a:xfrm>
            <a:off x="9601200" y="4572000"/>
            <a:ext cx="2121408" cy="0"/>
          </a:xfrm>
          <a:prstGeom prst="line">
            <a:avLst/>
          </a:prstGeom>
          <a:noFill/>
          <a:ln w="9525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3"/>
          <p:cNvSpPr/>
          <p:nvPr/>
        </p:nvSpPr>
        <p:spPr>
          <a:xfrm>
            <a:off x="9601200" y="470916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25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병원 </a:t>
            </a:r>
            <a:r>
              <a:rPr lang="en-US" altLang="ko-KR" sz="125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1250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클리닉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창업 토탈 솔루션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3760" y="2834640"/>
            <a:ext cx="4937760" cy="4937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66928"/>
            <a:ext cx="41148" cy="384048"/>
          </a:xfrm>
          <a:prstGeom prst="rect">
            <a:avLst/>
          </a:prstGeom>
          <a:solidFill>
            <a:srgbClr val="B892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7315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r>
              <a:rPr lang="en-US" sz="1500" kern="0" spc="100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Business — Track 1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1400" y="457200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928" y="6199632"/>
            <a:ext cx="457200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5074920" y="5989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924A"/>
                </a:solidFill>
              </a:rPr>
              <a:t>◆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577840" y="6199632"/>
            <a:ext cx="603504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928" y="6355080"/>
            <a:ext cx="384048" cy="38404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9728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/>
          <p:nvPr/>
        </p:nvSpPr>
        <p:spPr>
          <a:xfrm>
            <a:off x="1234440" y="6355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JOYMEDIX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1056132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/>
          <p:nvPr/>
        </p:nvSpPr>
        <p:spPr>
          <a:xfrm>
            <a:off x="10698480" y="6355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09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13232" y="1234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 실행 트랙 </a:t>
            </a:r>
            <a:r>
              <a:rPr lang="en-US" sz="3600" b="1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유통 × 세미나</a:t>
            </a:r>
            <a:endParaRPr lang="en-US" sz="3600" dirty="0"/>
          </a:p>
        </p:txBody>
      </p:sp>
      <p:sp>
        <p:nvSpPr>
          <p:cNvPr id="15" name="Text 10"/>
          <p:cNvSpPr/>
          <p:nvPr/>
        </p:nvSpPr>
        <p:spPr>
          <a:xfrm>
            <a:off x="749808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유통과 현지 세미나를 묶어 상호 강화하는 플라이휠 구조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13232" y="2743200"/>
            <a:ext cx="5120640" cy="3063240"/>
          </a:xfrm>
          <a:prstGeom prst="roundRect">
            <a:avLst>
              <a:gd name="adj" fmla="val 2985"/>
            </a:avLst>
          </a:prstGeom>
          <a:solidFill>
            <a:srgbClr val="FBF7F0"/>
          </a:solidFill>
          <a:ln w="12700">
            <a:solidFill>
              <a:srgbClr val="D9C49A"/>
            </a:solidFill>
            <a:prstDash val="solid"/>
          </a:ln>
          <a:effectLst>
            <a:outerShdw blurRad="88900" dist="25400" dir="8100000" algn="bl" rotWithShape="0">
              <a:srgbClr val="8A6D2F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1033272" y="3063240"/>
            <a:ext cx="777240" cy="777240"/>
          </a:xfrm>
          <a:prstGeom prst="ellipse">
            <a:avLst/>
          </a:prstGeom>
          <a:solidFill>
            <a:srgbClr val="FBF7F0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127" y="3273095"/>
            <a:ext cx="357530" cy="3575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47672" y="30632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해외 유통</a:t>
            </a:r>
            <a:endParaRPr lang="en-US" sz="2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" y="408736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26464" y="401421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소싱 → 포워딩 → 현지 입고 → 클리닉 공급</a:t>
            </a:r>
            <a:endParaRPr lang="en-US" sz="13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" y="4636008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426464" y="456285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물류 인프라로 안전한 수출</a:t>
            </a:r>
            <a:endParaRPr lang="en-US" sz="13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" y="5184648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426464" y="51114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반복 구매로 지속 매출 발생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6355080" y="2743200"/>
            <a:ext cx="5120640" cy="3063240"/>
          </a:xfrm>
          <a:prstGeom prst="roundRect">
            <a:avLst>
              <a:gd name="adj" fmla="val 2985"/>
            </a:avLst>
          </a:prstGeom>
          <a:solidFill>
            <a:srgbClr val="FBF7F0"/>
          </a:solidFill>
          <a:ln w="12700">
            <a:solidFill>
              <a:srgbClr val="D9C49A"/>
            </a:solidFill>
            <a:prstDash val="solid"/>
          </a:ln>
          <a:effectLst>
            <a:outerShdw blurRad="88900" dist="25400" dir="8100000" algn="bl" rotWithShape="0">
              <a:srgbClr val="8A6D2F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8"/>
          <p:cNvSpPr/>
          <p:nvPr/>
        </p:nvSpPr>
        <p:spPr>
          <a:xfrm>
            <a:off x="6675120" y="3063240"/>
            <a:ext cx="777240" cy="777240"/>
          </a:xfrm>
          <a:prstGeom prst="ellipse">
            <a:avLst/>
          </a:prstGeom>
          <a:solidFill>
            <a:srgbClr val="FBF7F0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4975" y="3273095"/>
            <a:ext cx="357530" cy="35753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589520" y="30632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세미나</a:t>
            </a:r>
            <a:endParaRPr lang="en-US" sz="20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4087368"/>
            <a:ext cx="237744" cy="23774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068312" y="401421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현지 </a:t>
            </a:r>
            <a:r>
              <a:rPr lang="en-US" sz="1300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클리닉</a:t>
            </a: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</a:t>
            </a: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K-</a:t>
            </a:r>
            <a:r>
              <a:rPr lang="en-US" sz="1300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에스테틱</a:t>
            </a: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시술 교육</a:t>
            </a:r>
            <a:endParaRPr lang="en-US" sz="13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4636008"/>
            <a:ext cx="237744" cy="237744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7068312" y="456285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세미나 참가자 → 제품 공급 클라이언트 전환</a:t>
            </a:r>
            <a:endParaRPr lang="en-US" sz="130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5184648"/>
            <a:ext cx="237744" cy="237744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7068312" y="51114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교육·제품 번들로 차별화된 가치 제공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3760" y="2834640"/>
            <a:ext cx="4937760" cy="4937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66928"/>
            <a:ext cx="41148" cy="384048"/>
          </a:xfrm>
          <a:prstGeom prst="rect">
            <a:avLst/>
          </a:prstGeom>
          <a:solidFill>
            <a:srgbClr val="B892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7315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r>
              <a:rPr lang="en-US" sz="1500" kern="0" spc="100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Business — Track 2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1400" y="457200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928" y="6199632"/>
            <a:ext cx="457200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5074920" y="5989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924A"/>
                </a:solidFill>
              </a:rPr>
              <a:t>◆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577840" y="6199632"/>
            <a:ext cx="603504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928" y="6355080"/>
            <a:ext cx="384048" cy="38404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9728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/>
          <p:nvPr/>
        </p:nvSpPr>
        <p:spPr>
          <a:xfrm>
            <a:off x="1234440" y="6355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JOYMEDIX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1056132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/>
          <p:nvPr/>
        </p:nvSpPr>
        <p:spPr>
          <a:xfrm>
            <a:off x="10698480" y="6355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09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13232" y="1234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트랙 </a:t>
            </a:r>
            <a:r>
              <a:rPr lang="en-US" sz="3600" b="1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인재 × 컨설팅</a:t>
            </a:r>
            <a:endParaRPr lang="en-US" sz="3600" dirty="0"/>
          </a:p>
        </p:txBody>
      </p:sp>
      <p:sp>
        <p:nvSpPr>
          <p:cNvPr id="15" name="Text 10"/>
          <p:cNvSpPr/>
          <p:nvPr/>
        </p:nvSpPr>
        <p:spPr>
          <a:xfrm>
            <a:off x="749808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클리닉과의 관계를 깊게 만드는 인재 공급과 국내 개원 솔루션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13232" y="2743200"/>
            <a:ext cx="5120640" cy="3063240"/>
          </a:xfrm>
          <a:prstGeom prst="roundRect">
            <a:avLst>
              <a:gd name="adj" fmla="val 2985"/>
            </a:avLst>
          </a:prstGeom>
          <a:solidFill>
            <a:srgbClr val="FBF7F0"/>
          </a:solidFill>
          <a:ln w="12700">
            <a:solidFill>
              <a:srgbClr val="D9C49A"/>
            </a:solidFill>
            <a:prstDash val="solid"/>
          </a:ln>
          <a:effectLst>
            <a:outerShdw blurRad="88900" dist="25400" dir="8100000" algn="bl" rotWithShape="0">
              <a:srgbClr val="8A6D2F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1033272" y="3063240"/>
            <a:ext cx="777240" cy="777240"/>
          </a:xfrm>
          <a:prstGeom prst="ellipse">
            <a:avLst/>
          </a:prstGeom>
          <a:solidFill>
            <a:srgbClr val="FBF7F0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127" y="3273095"/>
            <a:ext cx="357530" cy="3575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47672" y="30632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인재 해외 공급</a:t>
            </a:r>
            <a:endParaRPr lang="en-US" sz="2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" y="408736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26464" y="401421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 뷰티학과 연계로 인재 풀 확보</a:t>
            </a:r>
            <a:endParaRPr lang="en-US" sz="13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" y="4636008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426464" y="456285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JOYMEDIX 인증 교육 후 해외 파견</a:t>
            </a:r>
            <a:endParaRPr lang="en-US" sz="13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" y="5184648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426464" y="51114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호주</a:t>
            </a: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ko-KR" alt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캐나다</a:t>
            </a:r>
            <a:r>
              <a:rPr lang="en-US" altLang="ko-KR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등</a:t>
            </a: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전세계 </a:t>
            </a:r>
            <a:r>
              <a:rPr lang="en-US" sz="1300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클리닉</a:t>
            </a: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연결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6355080" y="2743200"/>
            <a:ext cx="5120640" cy="3063240"/>
          </a:xfrm>
          <a:prstGeom prst="roundRect">
            <a:avLst>
              <a:gd name="adj" fmla="val 2985"/>
            </a:avLst>
          </a:prstGeom>
          <a:solidFill>
            <a:srgbClr val="FBF7F0"/>
          </a:solidFill>
          <a:ln w="12700">
            <a:solidFill>
              <a:srgbClr val="D9C49A"/>
            </a:solidFill>
            <a:prstDash val="solid"/>
          </a:ln>
          <a:effectLst>
            <a:outerShdw blurRad="88900" dist="25400" dir="8100000" algn="bl" rotWithShape="0">
              <a:srgbClr val="8A6D2F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8"/>
          <p:cNvSpPr/>
          <p:nvPr/>
        </p:nvSpPr>
        <p:spPr>
          <a:xfrm>
            <a:off x="6675120" y="3063240"/>
            <a:ext cx="777240" cy="777240"/>
          </a:xfrm>
          <a:prstGeom prst="ellipse">
            <a:avLst/>
          </a:prstGeom>
          <a:solidFill>
            <a:srgbClr val="FBF7F0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4975" y="3273095"/>
            <a:ext cx="357530" cy="35753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589520" y="30632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개원컨설팅</a:t>
            </a:r>
            <a:endParaRPr lang="en-US" sz="20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4087368"/>
            <a:ext cx="237744" cy="23774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068312" y="401421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상권 분석·인테리어·인허가 토탈 지원</a:t>
            </a:r>
            <a:endParaRPr lang="en-US" sz="13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4636008"/>
            <a:ext cx="237744" cy="237744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7068312" y="456285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</a:t>
            </a: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교육 및 </a:t>
            </a:r>
            <a:r>
              <a:rPr lang="en-US" sz="1300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</a:t>
            </a: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</a:t>
            </a:r>
            <a:r>
              <a:rPr lang="en-US" sz="1300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셋업</a:t>
            </a:r>
            <a:endParaRPr lang="en-US" sz="130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5184648"/>
            <a:ext cx="237744" cy="237744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7068312" y="51114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장비·제품 지속 </a:t>
            </a:r>
            <a:r>
              <a:rPr lang="en-US" sz="1300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공급으로</a:t>
            </a: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LTV(</a:t>
            </a:r>
            <a:r>
              <a:rPr lang="en-US" sz="1300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</a:t>
            </a:r>
            <a:r>
              <a:rPr lang="en-US" sz="13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Value) 확보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0BDB1-751F-5C5A-A8AF-F3EB53D25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>
            <a:extLst>
              <a:ext uri="{FF2B5EF4-FFF2-40B4-BE49-F238E27FC236}">
                <a16:creationId xmlns:a16="http://schemas.microsoft.com/office/drawing/2014/main" id="{6FF96399-0A90-BB5F-1D1D-662D78844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90500"/>
            <a:ext cx="11430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382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41148" cy="384048"/>
          </a:xfrm>
          <a:prstGeom prst="rect">
            <a:avLst/>
          </a:prstGeom>
          <a:solidFill>
            <a:srgbClr val="B892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r>
              <a:rPr lang="en-US" sz="1500" kern="0" spc="100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Global Network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01400" y="45720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6199632"/>
            <a:ext cx="457200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074920" y="5989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924A"/>
                </a:solidFill>
              </a:rPr>
              <a:t>◆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577840" y="6199632"/>
            <a:ext cx="603504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6355080"/>
            <a:ext cx="384048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1234440" y="6355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JOYMEDIX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056132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10698480" y="6355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09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49440" y="1280160"/>
            <a:ext cx="5212080" cy="5212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" y="118872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네트워크</a:t>
            </a:r>
            <a:endParaRPr lang="en-US" sz="4600" dirty="0"/>
          </a:p>
        </p:txBody>
      </p:sp>
      <p:sp>
        <p:nvSpPr>
          <p:cNvPr id="15" name="Text 10"/>
          <p:cNvSpPr/>
          <p:nvPr/>
        </p:nvSpPr>
        <p:spPr>
          <a:xfrm>
            <a:off x="749808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구축된 3개국 현지 클리닉 거점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49808" y="2788920"/>
            <a:ext cx="713232" cy="713232"/>
          </a:xfrm>
          <a:prstGeom prst="ellipse">
            <a:avLst/>
          </a:prstGeom>
          <a:solidFill>
            <a:srgbClr val="F7F1E8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381" y="2981493"/>
            <a:ext cx="328087" cy="32808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27632" y="2743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몽골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3200400" y="27157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진입 거점 · 에스테틱 전문 병원 파트너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3200400" y="30815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세미나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 · </a:t>
            </a:r>
            <a:r>
              <a:rPr 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유통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49808" y="3703320"/>
            <a:ext cx="6492240" cy="0"/>
          </a:xfrm>
          <a:prstGeom prst="line">
            <a:avLst/>
          </a:prstGeom>
          <a:noFill/>
          <a:ln w="9525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6"/>
          <p:cNvSpPr/>
          <p:nvPr/>
        </p:nvSpPr>
        <p:spPr>
          <a:xfrm>
            <a:off x="749808" y="3813048"/>
            <a:ext cx="713232" cy="713232"/>
          </a:xfrm>
          <a:prstGeom prst="ellipse">
            <a:avLst/>
          </a:prstGeom>
          <a:solidFill>
            <a:srgbClr val="F7F1E8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381" y="4005621"/>
            <a:ext cx="328087" cy="32808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27632" y="376732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캐나다</a:t>
            </a:r>
            <a:endParaRPr lang="en-US" sz="2000" dirty="0"/>
          </a:p>
        </p:txBody>
      </p:sp>
      <p:sp>
        <p:nvSpPr>
          <p:cNvPr id="25" name="Text 18"/>
          <p:cNvSpPr/>
          <p:nvPr/>
        </p:nvSpPr>
        <p:spPr>
          <a:xfrm>
            <a:off x="3200400" y="373989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연계 클리닉 보유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3200400" y="410565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유통 + 세미나 확장 대상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749808" y="4727448"/>
            <a:ext cx="6492240" cy="0"/>
          </a:xfrm>
          <a:prstGeom prst="line">
            <a:avLst/>
          </a:prstGeom>
          <a:noFill/>
          <a:ln w="9525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1"/>
          <p:cNvSpPr/>
          <p:nvPr/>
        </p:nvSpPr>
        <p:spPr>
          <a:xfrm>
            <a:off x="749808" y="4837176"/>
            <a:ext cx="713232" cy="713232"/>
          </a:xfrm>
          <a:prstGeom prst="ellipse">
            <a:avLst/>
          </a:prstGeom>
          <a:solidFill>
            <a:srgbClr val="F7F1E8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381" y="5029749"/>
            <a:ext cx="328087" cy="32808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627632" y="479145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호주</a:t>
            </a:r>
            <a:endParaRPr lang="en-US" sz="2000" dirty="0"/>
          </a:p>
        </p:txBody>
      </p:sp>
      <p:sp>
        <p:nvSpPr>
          <p:cNvPr id="31" name="Text 23"/>
          <p:cNvSpPr/>
          <p:nvPr/>
        </p:nvSpPr>
        <p:spPr>
          <a:xfrm>
            <a:off x="3200400" y="476402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연계 클리닉 보유 · 워킹홀리데이 인재 수요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3200400" y="512978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+ </a:t>
            </a:r>
            <a:r>
              <a:rPr 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인재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ko-KR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세미나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공급 통합 시장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3760" y="2834640"/>
            <a:ext cx="4937760" cy="4937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66928"/>
            <a:ext cx="41148" cy="384048"/>
          </a:xfrm>
          <a:prstGeom prst="rect">
            <a:avLst/>
          </a:prstGeom>
          <a:solidFill>
            <a:srgbClr val="B892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7315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r>
              <a:rPr lang="en-US" sz="1500" kern="0" spc="100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Vision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1400" y="457200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928" y="6199632"/>
            <a:ext cx="457200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5074920" y="5989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924A"/>
                </a:solidFill>
              </a:rPr>
              <a:t>◆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577840" y="6199632"/>
            <a:ext cx="603504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928" y="6355080"/>
            <a:ext cx="384048" cy="38404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9728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/>
          <p:nvPr/>
        </p:nvSpPr>
        <p:spPr>
          <a:xfrm>
            <a:off x="1234440" y="6355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JOYMEDIX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1056132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/>
          <p:nvPr/>
        </p:nvSpPr>
        <p:spPr>
          <a:xfrm>
            <a:off x="10698480" y="6355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09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13232" y="118872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비전과 성장 방향</a:t>
            </a:r>
            <a:endParaRPr lang="en-US" sz="4600" dirty="0"/>
          </a:p>
        </p:txBody>
      </p:sp>
      <p:sp>
        <p:nvSpPr>
          <p:cNvPr id="15" name="Text 10"/>
          <p:cNvSpPr/>
          <p:nvPr/>
        </p:nvSpPr>
        <p:spPr>
          <a:xfrm>
            <a:off x="749808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거점 시장 검증 → 멀티국 확장 → 통합 플랫폼 완성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13232" y="2834640"/>
            <a:ext cx="3456432" cy="2697480"/>
          </a:xfrm>
          <a:prstGeom prst="roundRect">
            <a:avLst>
              <a:gd name="adj" fmla="val 3390"/>
            </a:avLst>
          </a:prstGeom>
          <a:solidFill>
            <a:srgbClr val="FBF7F0"/>
          </a:solidFill>
          <a:ln w="12700">
            <a:solidFill>
              <a:srgbClr val="D9C49A"/>
            </a:solidFill>
            <a:prstDash val="solid"/>
          </a:ln>
          <a:effectLst>
            <a:outerShdw blurRad="88900" dist="25400" dir="8100000" algn="bl" rotWithShape="0">
              <a:srgbClr val="8A6D2F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1033272" y="3154680"/>
            <a:ext cx="777240" cy="777240"/>
          </a:xfrm>
          <a:prstGeom prst="ellipse">
            <a:avLst/>
          </a:prstGeom>
          <a:solidFill>
            <a:srgbClr val="FBF7F0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127" y="3364535"/>
            <a:ext cx="357530" cy="3575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47672" y="32004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947672" y="3547872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거점 검증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1033272" y="4251960"/>
            <a:ext cx="2816352" cy="0"/>
          </a:xfrm>
          <a:prstGeom prst="line">
            <a:avLst/>
          </a:prstGeom>
          <a:noFill/>
          <a:ln w="9525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/>
          <p:nvPr/>
        </p:nvSpPr>
        <p:spPr>
          <a:xfrm>
            <a:off x="1033272" y="4389120"/>
            <a:ext cx="2862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몽골 중심으로 유통·세미나 실행,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레퍼런스 확보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151376" y="3749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8924A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4462272" y="2834640"/>
            <a:ext cx="3456432" cy="2697480"/>
          </a:xfrm>
          <a:prstGeom prst="roundRect">
            <a:avLst>
              <a:gd name="adj" fmla="val 3390"/>
            </a:avLst>
          </a:prstGeom>
          <a:solidFill>
            <a:srgbClr val="FBF7F0"/>
          </a:solidFill>
          <a:ln w="12700">
            <a:solidFill>
              <a:srgbClr val="D9C49A"/>
            </a:solidFill>
            <a:prstDash val="solid"/>
          </a:ln>
          <a:effectLst>
            <a:outerShdw blurRad="88900" dist="25400" dir="8100000" algn="bl" rotWithShape="0">
              <a:srgbClr val="8A6D2F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4782312" y="3154680"/>
            <a:ext cx="777240" cy="777240"/>
          </a:xfrm>
          <a:prstGeom prst="ellipse">
            <a:avLst/>
          </a:prstGeom>
          <a:solidFill>
            <a:srgbClr val="FBF7F0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2167" y="3364535"/>
            <a:ext cx="357530" cy="35753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96712" y="32004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696712" y="3547872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멀티국 확장</a:t>
            </a:r>
            <a:endParaRPr lang="en-US" sz="1700" dirty="0"/>
          </a:p>
        </p:txBody>
      </p:sp>
      <p:sp>
        <p:nvSpPr>
          <p:cNvPr id="29" name="Shape 22"/>
          <p:cNvSpPr/>
          <p:nvPr/>
        </p:nvSpPr>
        <p:spPr>
          <a:xfrm>
            <a:off x="4782312" y="4251960"/>
            <a:ext cx="2816352" cy="0"/>
          </a:xfrm>
          <a:prstGeom prst="line">
            <a:avLst/>
          </a:prstGeom>
          <a:noFill/>
          <a:ln w="9525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3"/>
          <p:cNvSpPr/>
          <p:nvPr/>
        </p:nvSpPr>
        <p:spPr>
          <a:xfrm>
            <a:off x="4782312" y="4389120"/>
            <a:ext cx="2862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캐나다·호주로 모델 이식,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 err="1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인재</a:t>
            </a:r>
            <a:r>
              <a:rPr lang="en-US" sz="125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공급 본격 가동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900416" y="3749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8924A"/>
                </a:solidFill>
              </a:rPr>
              <a:t>→</a:t>
            </a:r>
            <a:endParaRPr lang="en-US" sz="2200" dirty="0"/>
          </a:p>
        </p:txBody>
      </p:sp>
      <p:sp>
        <p:nvSpPr>
          <p:cNvPr id="32" name="Shape 25"/>
          <p:cNvSpPr/>
          <p:nvPr/>
        </p:nvSpPr>
        <p:spPr>
          <a:xfrm>
            <a:off x="8211312" y="2834640"/>
            <a:ext cx="3456432" cy="2697480"/>
          </a:xfrm>
          <a:prstGeom prst="roundRect">
            <a:avLst>
              <a:gd name="adj" fmla="val 3390"/>
            </a:avLst>
          </a:prstGeom>
          <a:solidFill>
            <a:srgbClr val="FBF7F0"/>
          </a:solidFill>
          <a:ln w="12700">
            <a:solidFill>
              <a:srgbClr val="D9C49A"/>
            </a:solidFill>
            <a:prstDash val="solid"/>
          </a:ln>
          <a:effectLst>
            <a:outerShdw blurRad="88900" dist="25400" dir="8100000" algn="bl" rotWithShape="0">
              <a:srgbClr val="8A6D2F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8531352" y="3154680"/>
            <a:ext cx="777240" cy="777240"/>
          </a:xfrm>
          <a:prstGeom prst="ellipse">
            <a:avLst/>
          </a:prstGeom>
          <a:solidFill>
            <a:srgbClr val="FBF7F0"/>
          </a:solidFill>
          <a:ln w="19050">
            <a:solidFill>
              <a:srgbClr val="B892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1207" y="3364535"/>
            <a:ext cx="357530" cy="35753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445752" y="32004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9445752" y="3547872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 완성</a:t>
            </a:r>
            <a:endParaRPr lang="en-US" sz="1700" dirty="0"/>
          </a:p>
        </p:txBody>
      </p:sp>
      <p:sp>
        <p:nvSpPr>
          <p:cNvPr id="37" name="Shape 29"/>
          <p:cNvSpPr/>
          <p:nvPr/>
        </p:nvSpPr>
        <p:spPr>
          <a:xfrm>
            <a:off x="8531352" y="4251960"/>
            <a:ext cx="2816352" cy="0"/>
          </a:xfrm>
          <a:prstGeom prst="line">
            <a:avLst/>
          </a:prstGeom>
          <a:noFill/>
          <a:ln w="9525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0"/>
          <p:cNvSpPr/>
          <p:nvPr/>
        </p:nvSpPr>
        <p:spPr>
          <a:xfrm>
            <a:off x="8531352" y="4389120"/>
            <a:ext cx="2862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4대 사업 유기적 연결,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K-뷰티 수출 인프라 구축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360" y="2560320"/>
            <a:ext cx="5852160" cy="58521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640080"/>
            <a:ext cx="41148" cy="365760"/>
          </a:xfrm>
          <a:prstGeom prst="rect">
            <a:avLst/>
          </a:prstGeom>
          <a:solidFill>
            <a:srgbClr val="B892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731520" y="62179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F4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&amp; SOURCING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1400" y="502920"/>
            <a:ext cx="566928" cy="5669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3716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2000"/>
              </a:lnSpc>
            </a:pPr>
            <a:r>
              <a:rPr lang="ko-KR" altLang="ko-KR" sz="4400" b="1" dirty="0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"</a:t>
            </a:r>
            <a:r>
              <a:rPr lang="ko-KR" altLang="ko-KR" sz="4400" b="1" dirty="0" err="1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From</a:t>
            </a:r>
            <a:r>
              <a:rPr lang="ko-KR" altLang="ko-KR" sz="4400" b="1" dirty="0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ko-KR" altLang="ko-KR" sz="4400" b="1" dirty="0" err="1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Seoul</a:t>
            </a:r>
            <a:r>
              <a:rPr lang="ko-KR" altLang="ko-KR" sz="4400" b="1" dirty="0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ko-KR" altLang="ko-KR" sz="4400" b="1" dirty="0" err="1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to</a:t>
            </a:r>
            <a:r>
              <a:rPr lang="ko-KR" altLang="ko-KR" sz="4400" b="1" dirty="0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ko-KR" altLang="ko-KR" sz="4400" b="1" dirty="0" err="1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the</a:t>
            </a:r>
            <a:r>
              <a:rPr lang="ko-KR" altLang="ko-KR" sz="4400" b="1" dirty="0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ko-KR" altLang="ko-KR" sz="4400" b="1" dirty="0" err="1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world</a:t>
            </a:r>
            <a:r>
              <a:rPr lang="ko-KR" altLang="ko-KR" sz="4400" b="1" dirty="0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 </a:t>
            </a:r>
            <a:endParaRPr lang="en-US" altLang="ko-KR" sz="4400" b="1" dirty="0">
              <a:solidFill>
                <a:srgbClr val="0E2A47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12000"/>
              </a:lnSpc>
            </a:pPr>
            <a:r>
              <a:rPr lang="ko-KR" altLang="ko-KR" sz="4400" b="1" dirty="0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— </a:t>
            </a:r>
            <a:r>
              <a:rPr lang="ko-KR" altLang="ko-KR" sz="4400" b="1" dirty="0" err="1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product</a:t>
            </a:r>
            <a:r>
              <a:rPr lang="ko-KR" altLang="ko-KR" sz="4400" b="1" dirty="0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ko-KR" sz="4400" b="1" dirty="0" err="1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education</a:t>
            </a:r>
            <a:r>
              <a:rPr lang="ko-KR" altLang="ko-KR" sz="4400" b="1" dirty="0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ko-KR" sz="4400" b="1" dirty="0" err="1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talent</a:t>
            </a:r>
            <a:r>
              <a:rPr lang="ko-KR" altLang="ko-KR" sz="4400" b="1" dirty="0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. </a:t>
            </a:r>
            <a:endParaRPr lang="en-US" altLang="ko-KR" sz="4400" b="1" dirty="0">
              <a:solidFill>
                <a:srgbClr val="0E2A47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12000"/>
              </a:lnSpc>
            </a:pPr>
            <a:r>
              <a:rPr lang="ko-KR" altLang="ko-KR" sz="4400" b="1" dirty="0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All </a:t>
            </a:r>
            <a:r>
              <a:rPr lang="ko-KR" altLang="ko-KR" sz="4400" b="1" dirty="0" err="1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in</a:t>
            </a:r>
            <a:r>
              <a:rPr lang="ko-KR" altLang="ko-KR" sz="4400" b="1" dirty="0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ko-KR" altLang="ko-KR" sz="4400" b="1" dirty="0" err="1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one</a:t>
            </a:r>
            <a:r>
              <a:rPr lang="ko-KR" altLang="ko-KR" sz="4400" b="1" dirty="0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."</a:t>
            </a:r>
            <a:r>
              <a:rPr lang="en-US" sz="4400" b="1" dirty="0">
                <a:solidFill>
                  <a:srgbClr val="0E2A47"/>
                </a:solidFill>
                <a:latin typeface="Arial" pitchFamily="34" charset="0"/>
                <a:cs typeface="Arial" pitchFamily="34" charset="-120"/>
              </a:rPr>
              <a:t>    </a:t>
            </a:r>
          </a:p>
        </p:txBody>
      </p:sp>
      <p:sp>
        <p:nvSpPr>
          <p:cNvPr id="7" name="Text 3"/>
          <p:cNvSpPr/>
          <p:nvPr/>
        </p:nvSpPr>
        <p:spPr>
          <a:xfrm>
            <a:off x="749808" y="3840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F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K-Beauty, Medical Aesthetic, Global Connection.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749808" y="4617720"/>
            <a:ext cx="685800" cy="685800"/>
          </a:xfrm>
          <a:prstGeom prst="ellipse">
            <a:avLst/>
          </a:prstGeom>
          <a:solidFill>
            <a:srgbClr val="1F4D3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8006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00200" y="4617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파트너십 · </a:t>
            </a:r>
            <a:r>
              <a:rPr lang="en-US" sz="1900" b="1" dirty="0" err="1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소싱</a:t>
            </a: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문의</a:t>
            </a: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환영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566928" y="6199632"/>
            <a:ext cx="457200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7"/>
          <p:cNvSpPr/>
          <p:nvPr/>
        </p:nvSpPr>
        <p:spPr>
          <a:xfrm>
            <a:off x="5074920" y="5989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924A"/>
                </a:solidFill>
              </a:rPr>
              <a:t>◆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577840" y="6199632"/>
            <a:ext cx="6035040" cy="0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6928" y="6355080"/>
            <a:ext cx="384048" cy="38404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09728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0"/>
          <p:cNvSpPr/>
          <p:nvPr/>
        </p:nvSpPr>
        <p:spPr>
          <a:xfrm>
            <a:off x="1234440" y="6355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JOYMEDIX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10561320" y="6382512"/>
            <a:ext cx="0" cy="329184"/>
          </a:xfrm>
          <a:prstGeom prst="line">
            <a:avLst/>
          </a:prstGeom>
          <a:noFill/>
          <a:ln w="12700">
            <a:solidFill>
              <a:srgbClr val="D9C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/>
          <p:cNvSpPr/>
          <p:nvPr/>
        </p:nvSpPr>
        <p:spPr>
          <a:xfrm>
            <a:off x="10698480" y="6355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09</a:t>
            </a:r>
            <a:endParaRPr 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05F4C7-7AAE-C872-C4B7-4B027E63163F}"/>
              </a:ext>
            </a:extLst>
          </p:cNvPr>
          <p:cNvSpPr txBox="1"/>
          <p:nvPr/>
        </p:nvSpPr>
        <p:spPr>
          <a:xfrm>
            <a:off x="758952" y="347293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제품, 교육, 인재. </a:t>
            </a:r>
            <a:r>
              <a:rPr lang="en-US" altLang="ko-KR" dirty="0"/>
              <a:t>JOY </a:t>
            </a:r>
            <a:r>
              <a:rPr lang="ko-KR" altLang="en-US" dirty="0"/>
              <a:t>하나로 </a:t>
            </a:r>
            <a:r>
              <a:rPr lang="ko-KR" altLang="ko-KR" dirty="0"/>
              <a:t>완결된다.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528</Words>
  <Application>Microsoft Office PowerPoint</Application>
  <PresentationFormat>와이드스크린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JOYMEDIX 회사소개서</dc:title>
  <dc:subject>PptxGenJS Presentation</dc:subject>
  <dc:creator>JOYMEDIX</dc:creator>
  <cp:lastModifiedBy>Jinyoung Bae</cp:lastModifiedBy>
  <cp:revision>3</cp:revision>
  <dcterms:created xsi:type="dcterms:W3CDTF">2026-06-07T08:09:04Z</dcterms:created>
  <dcterms:modified xsi:type="dcterms:W3CDTF">2026-06-07T13:02:12Z</dcterms:modified>
</cp:coreProperties>
</file>